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2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3E"/>
                </a:solidFill>
                <a:latin typeface="Arial"/>
              </a:rPr>
              <a:t>Monthly Revenue vs Gross Profit (Active Period)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4497660</c:v>
                </c:pt>
                <c:pt idx="1">
                  <c:v>4065352</c:v>
                </c:pt>
                <c:pt idx="2">
                  <c:v>4427899</c:v>
                </c:pt>
                <c:pt idx="3">
                  <c:v>4291036</c:v>
                </c:pt>
                <c:pt idx="4">
                  <c:v>4483789</c:v>
                </c:pt>
                <c:pt idx="5">
                  <c:v>4364326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46-441A-8900-D975DAB66C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 (₹)</c:v>
                </c:pt>
              </c:strCache>
            </c:strRef>
          </c:tx>
          <c:spPr>
            <a:solidFill>
              <a:srgbClr val="F4B94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1124976</c:v>
                </c:pt>
                <c:pt idx="1">
                  <c:v>1010352</c:v>
                </c:pt>
                <c:pt idx="2">
                  <c:v>1103671</c:v>
                </c:pt>
                <c:pt idx="3">
                  <c:v>1068850</c:v>
                </c:pt>
                <c:pt idx="4">
                  <c:v>1123492</c:v>
                </c:pt>
                <c:pt idx="5">
                  <c:v>1083641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46-441A-8900-D975DAB66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Orders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8B-4337-85BF-7AB4973D1E9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98B-4337-85BF-7AB4973D1E9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98B-4337-85BF-7AB4973D1E90}"/>
              </c:ext>
            </c:extLst>
          </c:dPt>
          <c:dPt>
            <c:idx val="3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8B-4337-85BF-7AB4973D1E90}"/>
              </c:ext>
            </c:extLst>
          </c:dPt>
          <c:dPt>
            <c:idx val="4"/>
            <c:invertIfNegative val="0"/>
            <c:bubble3D val="0"/>
            <c:spPr>
              <a:solidFill>
                <a:srgbClr val="D94F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8B-4337-85BF-7AB4973D1E90}"/>
              </c:ext>
            </c:extLst>
          </c:dPt>
          <c:dPt>
            <c:idx val="5"/>
            <c:invertIfNegative val="0"/>
            <c:bubble3D val="0"/>
            <c:spPr>
              <a:solidFill>
                <a:srgbClr val="D94F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98B-4337-85BF-7AB4973D1E9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0-10%</c:v>
                </c:pt>
                <c:pt idx="1">
                  <c:v>10-20%</c:v>
                </c:pt>
                <c:pt idx="2">
                  <c:v>20-30%</c:v>
                </c:pt>
                <c:pt idx="3">
                  <c:v>30-40%</c:v>
                </c:pt>
                <c:pt idx="4">
                  <c:v>40-50%</c:v>
                </c:pt>
                <c:pt idx="5">
                  <c:v>&gt;50%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12.5</c:v>
                </c:pt>
                <c:pt idx="1">
                  <c:v>18.3</c:v>
                </c:pt>
                <c:pt idx="2">
                  <c:v>28.5</c:v>
                </c:pt>
                <c:pt idx="3">
                  <c:v>22.1</c:v>
                </c:pt>
                <c:pt idx="4">
                  <c:v>9.4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98B-4337-85BF-7AB4973D1E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D94F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3E-4530-96E3-527E5AFE27F8}"/>
              </c:ext>
            </c:extLst>
          </c:dPt>
          <c:dPt>
            <c:idx val="1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3E-4530-96E3-527E5AFE27F8}"/>
              </c:ext>
            </c:extLst>
          </c:dPt>
          <c:dPt>
            <c:idx val="2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3E-4530-96E3-527E5AFE27F8}"/>
              </c:ext>
            </c:extLst>
          </c:dPt>
          <c:dPt>
            <c:idx val="3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3E-4530-96E3-527E5AFE27F8}"/>
              </c:ext>
            </c:extLst>
          </c:dPt>
          <c:dPt>
            <c:idx val="4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33E-4530-96E3-527E5AFE27F8}"/>
              </c:ext>
            </c:extLst>
          </c:dPt>
          <c:dPt>
            <c:idx val="5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33E-4530-96E3-527E5AFE27F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Quality Issue</c:v>
                </c:pt>
                <c:pt idx="1">
                  <c:v>Damaged</c:v>
                </c:pt>
                <c:pt idx="2">
                  <c:v>Late Delivery</c:v>
                </c:pt>
                <c:pt idx="3">
                  <c:v>Wrong Item</c:v>
                </c:pt>
                <c:pt idx="4">
                  <c:v>Changed Mind</c:v>
                </c:pt>
                <c:pt idx="5">
                  <c:v>Missing Item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1162</c:v>
                </c:pt>
                <c:pt idx="1">
                  <c:v>878</c:v>
                </c:pt>
                <c:pt idx="2">
                  <c:v>730</c:v>
                </c:pt>
                <c:pt idx="3">
                  <c:v>673</c:v>
                </c:pt>
                <c:pt idx="4">
                  <c:v>668</c:v>
                </c:pt>
                <c:pt idx="5">
                  <c:v>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33E-4530-96E3-527E5AFE27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Days</c:v>
                </c:pt>
              </c:strCache>
            </c:strRef>
          </c:tx>
          <c:spPr>
            <a:solidFill>
              <a:srgbClr val="D94F3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4F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D35-4616-8BF6-E36B6CC240C2}"/>
              </c:ext>
            </c:extLst>
          </c:dPt>
          <c:dPt>
            <c:idx val="1"/>
            <c:invertIfNegative val="0"/>
            <c:bubble3D val="0"/>
            <c:spPr>
              <a:solidFill>
                <a:srgbClr val="D94F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35-4616-8BF6-E36B6CC240C2}"/>
              </c:ext>
            </c:extLst>
          </c:dPt>
          <c:dPt>
            <c:idx val="2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D35-4616-8BF6-E36B6CC240C2}"/>
              </c:ext>
            </c:extLst>
          </c:dPt>
          <c:dPt>
            <c:idx val="3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D35-4616-8BF6-E36B6CC240C2}"/>
              </c:ext>
            </c:extLst>
          </c:dPt>
          <c:dPt>
            <c:idx val="4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D35-4616-8BF6-E36B6CC240C2}"/>
              </c:ext>
            </c:extLst>
          </c:dPt>
          <c:dPt>
            <c:idx val="5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D35-4616-8BF6-E36B6CC240C2}"/>
              </c:ext>
            </c:extLst>
          </c:dPt>
          <c:dPt>
            <c:idx val="6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D35-4616-8BF6-E36B6CC240C2}"/>
              </c:ext>
            </c:extLst>
          </c:dPt>
          <c:dPt>
            <c:idx val="7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D35-4616-8BF6-E36B6CC240C2}"/>
              </c:ext>
            </c:extLst>
          </c:dPt>
          <c:dPt>
            <c:idx val="8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D35-4616-8BF6-E36B6CC240C2}"/>
              </c:ext>
            </c:extLst>
          </c:dPt>
          <c:dPt>
            <c:idx val="9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D35-4616-8BF6-E36B6CC240C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VEND0100</c:v>
                </c:pt>
                <c:pt idx="1">
                  <c:v>VEND0097</c:v>
                </c:pt>
                <c:pt idx="2">
                  <c:v>VEND0027</c:v>
                </c:pt>
                <c:pt idx="3">
                  <c:v>VEND0028</c:v>
                </c:pt>
                <c:pt idx="4">
                  <c:v>VEND0021</c:v>
                </c:pt>
                <c:pt idx="5">
                  <c:v>VEND0045</c:v>
                </c:pt>
                <c:pt idx="6">
                  <c:v>VEND0033</c:v>
                </c:pt>
                <c:pt idx="7">
                  <c:v>VEND0012</c:v>
                </c:pt>
                <c:pt idx="8">
                  <c:v>VEND0067</c:v>
                </c:pt>
                <c:pt idx="9">
                  <c:v>VEND0052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2.76</c:v>
                </c:pt>
                <c:pt idx="1">
                  <c:v>2.2599999999999998</c:v>
                </c:pt>
                <c:pt idx="2">
                  <c:v>2.1</c:v>
                </c:pt>
                <c:pt idx="3">
                  <c:v>2.0299999999999998</c:v>
                </c:pt>
                <c:pt idx="4">
                  <c:v>2</c:v>
                </c:pt>
                <c:pt idx="5">
                  <c:v>1.95</c:v>
                </c:pt>
                <c:pt idx="6">
                  <c:v>1.88</c:v>
                </c:pt>
                <c:pt idx="7">
                  <c:v>1.82</c:v>
                </c:pt>
                <c:pt idx="8">
                  <c:v>1.77</c:v>
                </c:pt>
                <c:pt idx="9">
                  <c:v>1.72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D35-4616-8BF6-E36B6CC240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Stockouts</c:v>
                </c:pt>
              </c:strCache>
            </c:strRef>
          </c:tx>
          <c:spPr>
            <a:solidFill>
              <a:srgbClr val="D94F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CCC-4A0B-85A5-AE5AE53273F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CCC-4A0B-85A5-AE5AE53273F6}"/>
              </c:ext>
            </c:extLst>
          </c:dPt>
          <c:dPt>
            <c:idx val="2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CCC-4A0B-85A5-AE5AE53273F6}"/>
              </c:ext>
            </c:extLst>
          </c:dPt>
          <c:dPt>
            <c:idx val="3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CCC-4A0B-85A5-AE5AE53273F6}"/>
              </c:ext>
            </c:extLst>
          </c:dPt>
          <c:dPt>
            <c:idx val="4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CCC-4A0B-85A5-AE5AE53273F6}"/>
              </c:ext>
            </c:extLst>
          </c:dPt>
          <c:dPt>
            <c:idx val="5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CCC-4A0B-85A5-AE5AE53273F6}"/>
              </c:ext>
            </c:extLst>
          </c:dPt>
          <c:dPt>
            <c:idx val="6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CCC-4A0B-85A5-AE5AE53273F6}"/>
              </c:ext>
            </c:extLst>
          </c:dPt>
          <c:dPt>
            <c:idx val="7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CCC-4A0B-85A5-AE5AE53273F6}"/>
              </c:ext>
            </c:extLst>
          </c:dPt>
          <c:dPt>
            <c:idx val="8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CCC-4A0B-85A5-AE5AE53273F6}"/>
              </c:ext>
            </c:extLst>
          </c:dPt>
          <c:dPt>
            <c:idx val="9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CCC-4A0B-85A5-AE5AE53273F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CHE-05</c:v>
                </c:pt>
                <c:pt idx="1">
                  <c:v>JAI-05</c:v>
                </c:pt>
                <c:pt idx="2">
                  <c:v>KOL-01</c:v>
                </c:pt>
                <c:pt idx="3">
                  <c:v>HYD-04</c:v>
                </c:pt>
                <c:pt idx="4">
                  <c:v>MUM-01</c:v>
                </c:pt>
                <c:pt idx="5">
                  <c:v>PUN-03</c:v>
                </c:pt>
                <c:pt idx="6">
                  <c:v>DEL-03</c:v>
                </c:pt>
                <c:pt idx="7">
                  <c:v>CHE-03</c:v>
                </c:pt>
                <c:pt idx="8">
                  <c:v>BEN-05</c:v>
                </c:pt>
                <c:pt idx="9">
                  <c:v>BEN-03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</c:v>
                </c:pt>
                <c:pt idx="1">
                  <c:v>43</c:v>
                </c:pt>
                <c:pt idx="2">
                  <c:v>41</c:v>
                </c:pt>
                <c:pt idx="3">
                  <c:v>40</c:v>
                </c:pt>
                <c:pt idx="4">
                  <c:v>37</c:v>
                </c:pt>
                <c:pt idx="5">
                  <c:v>37</c:v>
                </c:pt>
                <c:pt idx="6">
                  <c:v>37</c:v>
                </c:pt>
                <c:pt idx="7">
                  <c:v>36</c:v>
                </c:pt>
                <c:pt idx="8">
                  <c:v>36</c:v>
                </c:pt>
                <c:pt idx="9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CCC-4A0B-85A5-AE5AE53273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(₹K)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AHM-02</c:v>
                </c:pt>
                <c:pt idx="1">
                  <c:v>AHM-05</c:v>
                </c:pt>
                <c:pt idx="2">
                  <c:v>MUM-05</c:v>
                </c:pt>
                <c:pt idx="3">
                  <c:v>MUM-04</c:v>
                </c:pt>
                <c:pt idx="4">
                  <c:v>KOL-05</c:v>
                </c:pt>
                <c:pt idx="5">
                  <c:v>HYD-01</c:v>
                </c:pt>
                <c:pt idx="6">
                  <c:v>DEL-01</c:v>
                </c:pt>
                <c:pt idx="7">
                  <c:v>BEN-01</c:v>
                </c:pt>
                <c:pt idx="8">
                  <c:v>CHE-01</c:v>
                </c:pt>
                <c:pt idx="9">
                  <c:v>JAI-01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570</c:v>
                </c:pt>
                <c:pt idx="1">
                  <c:v>563</c:v>
                </c:pt>
                <c:pt idx="2">
                  <c:v>556</c:v>
                </c:pt>
                <c:pt idx="3">
                  <c:v>547</c:v>
                </c:pt>
                <c:pt idx="4">
                  <c:v>545</c:v>
                </c:pt>
                <c:pt idx="5">
                  <c:v>540</c:v>
                </c:pt>
                <c:pt idx="6">
                  <c:v>536</c:v>
                </c:pt>
                <c:pt idx="7">
                  <c:v>533</c:v>
                </c:pt>
                <c:pt idx="8">
                  <c:v>528</c:v>
                </c:pt>
                <c:pt idx="9">
                  <c:v>522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74-4E7E-88B3-2048BAB851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903-4047-9FEE-6FA52D539EF5}"/>
              </c:ext>
            </c:extLst>
          </c:dPt>
          <c:dPt>
            <c:idx val="1"/>
            <c:bubble3D val="0"/>
            <c:spPr>
              <a:solidFill>
                <a:srgbClr val="0D1B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03-4047-9FEE-6FA52D539EF5}"/>
              </c:ext>
            </c:extLst>
          </c:dPt>
          <c:dPt>
            <c:idx val="2"/>
            <c:bubble3D val="0"/>
            <c:spPr>
              <a:solidFill>
                <a:srgbClr val="F4B9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903-4047-9FEE-6FA52D539EF5}"/>
              </c:ext>
            </c:extLst>
          </c:dPt>
          <c:dPt>
            <c:idx val="3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903-4047-9FEE-6FA52D539EF5}"/>
              </c:ext>
            </c:extLst>
          </c:dPt>
          <c:dPt>
            <c:idx val="4"/>
            <c:bubble3D val="0"/>
            <c:spPr>
              <a:solidFill>
                <a:srgbClr val="1AAC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903-4047-9FEE-6FA52D539EF5}"/>
              </c:ext>
            </c:extLst>
          </c:dPt>
          <c:dPt>
            <c:idx val="5"/>
            <c:bubble3D val="0"/>
            <c:spPr>
              <a:solidFill>
                <a:srgbClr val="D94F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903-4047-9FEE-6FA52D539EF5}"/>
              </c:ext>
            </c:extLst>
          </c:dPt>
          <c:dPt>
            <c:idx val="6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903-4047-9FEE-6FA52D539EF5}"/>
              </c:ext>
            </c:extLst>
          </c:dPt>
          <c:dPt>
            <c:idx val="7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903-4047-9FEE-6FA52D539EF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903-4047-9FEE-6FA52D539EF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903-4047-9FEE-6FA52D539EF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903-4047-9FEE-6FA52D539EF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903-4047-9FEE-6FA52D539EF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903-4047-9FEE-6FA52D539EF5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903-4047-9FEE-6FA52D539EF5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903-4047-9FEE-6FA52D539EF5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903-4047-9FEE-6FA52D539EF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Groceries</c:v>
                </c:pt>
                <c:pt idx="1">
                  <c:v>Dairy</c:v>
                </c:pt>
                <c:pt idx="2">
                  <c:v>Home Care</c:v>
                </c:pt>
                <c:pt idx="3">
                  <c:v>Baby Care</c:v>
                </c:pt>
                <c:pt idx="4">
                  <c:v>Beverages</c:v>
                </c:pt>
                <c:pt idx="5">
                  <c:v>Frozen</c:v>
                </c:pt>
                <c:pt idx="6">
                  <c:v>Snacks</c:v>
                </c:pt>
                <c:pt idx="7">
                  <c:v>Personal Care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3749066</c:v>
                </c:pt>
                <c:pt idx="1">
                  <c:v>3520639</c:v>
                </c:pt>
                <c:pt idx="2">
                  <c:v>3386723</c:v>
                </c:pt>
                <c:pt idx="3">
                  <c:v>3143811</c:v>
                </c:pt>
                <c:pt idx="4">
                  <c:v>3054152</c:v>
                </c:pt>
                <c:pt idx="5">
                  <c:v>3040259</c:v>
                </c:pt>
                <c:pt idx="6">
                  <c:v>2919634</c:v>
                </c:pt>
                <c:pt idx="7">
                  <c:v>2585368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903-4047-9FEE-6FA52D539E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Generated (₹K)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Flat %</c:v>
                </c:pt>
                <c:pt idx="1">
                  <c:v>BOGO</c:v>
                </c:pt>
                <c:pt idx="2">
                  <c:v>Bundle</c:v>
                </c:pt>
                <c:pt idx="3">
                  <c:v>Flash Sale</c:v>
                </c:pt>
                <c:pt idx="4">
                  <c:v>Loyalty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8200</c:v>
                </c:pt>
                <c:pt idx="1">
                  <c:v>6400</c:v>
                </c:pt>
                <c:pt idx="2">
                  <c:v>5800</c:v>
                </c:pt>
                <c:pt idx="3">
                  <c:v>4200</c:v>
                </c:pt>
                <c:pt idx="4">
                  <c:v>1600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F3-4650-934F-FB41BDE313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Discount Cost (₹K)</c:v>
                </c:pt>
              </c:strCache>
            </c:strRef>
          </c:tx>
          <c:spPr>
            <a:solidFill>
              <a:srgbClr val="F4B94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Flat %</c:v>
                </c:pt>
                <c:pt idx="1">
                  <c:v>BOGO</c:v>
                </c:pt>
                <c:pt idx="2">
                  <c:v>Bundle</c:v>
                </c:pt>
                <c:pt idx="3">
                  <c:v>Flash Sale</c:v>
                </c:pt>
                <c:pt idx="4">
                  <c:v>Loyalty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1450</c:v>
                </c:pt>
                <c:pt idx="1">
                  <c:v>980</c:v>
                </c:pt>
                <c:pt idx="2">
                  <c:v>720</c:v>
                </c:pt>
                <c:pt idx="3">
                  <c:v>880</c:v>
                </c:pt>
                <c:pt idx="4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F3-4650-934F-FB41BDE313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21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1AAC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RETAIL CHAIN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Leakage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Optimization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384048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992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Analytics Report  |  FY 2025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502920"/>
            <a:ext cx="2377440" cy="777240"/>
          </a:xfrm>
          <a:prstGeom prst="rect">
            <a:avLst/>
          </a:prstGeom>
          <a:solidFill>
            <a:srgbClr val="0E7C86">
              <a:alpha val="30000"/>
            </a:srgbClr>
          </a:solidFill>
          <a:ln w="12700">
            <a:solidFill>
              <a:srgbClr val="1AAC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53949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₹26.2M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9052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508760"/>
            <a:ext cx="2377440" cy="777240"/>
          </a:xfrm>
          <a:prstGeom prst="rect">
            <a:avLst/>
          </a:prstGeom>
          <a:solidFill>
            <a:srgbClr val="0E7C86">
              <a:alpha val="30000"/>
            </a:srgbClr>
          </a:solidFill>
          <a:ln w="12700">
            <a:solidFill>
              <a:srgbClr val="1AAC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5453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₹1.62M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19110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Loss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2514600"/>
            <a:ext cx="2377440" cy="777240"/>
          </a:xfrm>
          <a:prstGeom prst="rect">
            <a:avLst/>
          </a:prstGeom>
          <a:solidFill>
            <a:srgbClr val="0E7C86">
              <a:alpha val="30000"/>
            </a:srgbClr>
          </a:solidFill>
          <a:ln w="12700">
            <a:solidFill>
              <a:srgbClr val="1AAC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5511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₹3.62M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9169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Leak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3520440"/>
            <a:ext cx="2377440" cy="777240"/>
          </a:xfrm>
          <a:prstGeom prst="rect">
            <a:avLst/>
          </a:prstGeom>
          <a:solidFill>
            <a:srgbClr val="0E7C86">
              <a:alpha val="30000"/>
            </a:srgbClr>
          </a:solidFill>
          <a:ln w="12700">
            <a:solidFill>
              <a:srgbClr val="1AAC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5570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30.1%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92240" y="39227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 dataset  |  73,544 transactions  |  50 stores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BF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070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607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key findings &amp; data overview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BF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93392"/>
            <a:ext cx="502920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945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482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margins &amp; monthly trends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80944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BF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80944"/>
            <a:ext cx="502920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8211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0358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Leakage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649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Discounts, returns &amp; margin erosion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68496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BF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68496"/>
            <a:ext cx="502920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16966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Supply Chain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3525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breaches &amp; delay impact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0058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BF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05840"/>
            <a:ext cx="502920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2070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10607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&amp; Demand Risk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13898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gaps &amp; revenue at risk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99339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BF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993392"/>
            <a:ext cx="502920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1945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20482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Category Insights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3774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comparison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980944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BF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980944"/>
            <a:ext cx="502920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18211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30358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3649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action roadmap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627632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1627632" cy="1645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₹26.2M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2880" y="158191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182880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 2025 active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56816" y="914400"/>
            <a:ext cx="1627632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56816" y="914400"/>
            <a:ext cx="1627632" cy="16459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1956816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₹6.53M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956816" y="158191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56816" y="182880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24.9% gross margin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30752" y="914400"/>
            <a:ext cx="1627632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30752" y="914400"/>
            <a:ext cx="1627632" cy="164592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16" name="Text 14"/>
          <p:cNvSpPr/>
          <p:nvPr/>
        </p:nvSpPr>
        <p:spPr>
          <a:xfrm>
            <a:off x="3730752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-₹282K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730752" y="158191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Loss (Post-Op)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30752" y="182880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drag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504688" y="914400"/>
            <a:ext cx="1627632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04688" y="914400"/>
            <a:ext cx="1627632" cy="16459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1" name="Text 19"/>
          <p:cNvSpPr/>
          <p:nvPr/>
        </p:nvSpPr>
        <p:spPr>
          <a:xfrm>
            <a:off x="5504688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₹1.62M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504688" y="158191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Loss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04688" y="182880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of revenue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278624" y="914400"/>
            <a:ext cx="1627632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78624" y="914400"/>
            <a:ext cx="1627632" cy="16459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6" name="Text 24"/>
          <p:cNvSpPr/>
          <p:nvPr/>
        </p:nvSpPr>
        <p:spPr>
          <a:xfrm>
            <a:off x="7278624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₹3.62M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278624" y="1581912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Leakage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78624" y="182880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 of revenue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2304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2697480"/>
            <a:ext cx="39319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7157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drops to near-zero from July 2025 — possible data pipeline issue or business disruption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118104"/>
            <a:ext cx="39319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1363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40.7% of all orders carry &gt;30% discount rate, heavily eroding gross margins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538728"/>
            <a:ext cx="39319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557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6,650 orders have &gt;50% discount — high risk of margin inversion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959352"/>
            <a:ext cx="393192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9776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Gross margin is consistent at ~25% across all 8 categories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379976"/>
            <a:ext cx="393192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3982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Baby Care leads with 26.8% gross margin — premium pricing holds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2304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OVERVIEW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63440" y="2697480"/>
            <a:ext cx="1920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663440" y="27340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73,544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663440" y="30632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12280" y="2697480"/>
            <a:ext cx="1920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812280" y="27340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812280" y="306324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474720"/>
            <a:ext cx="1920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663440" y="35112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2,575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4663440" y="38404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SKUs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12280" y="3474720"/>
            <a:ext cx="1920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812280" y="35112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4,570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812280" y="38404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Records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663440" y="4251960"/>
            <a:ext cx="1920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663440" y="42885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1,532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4663440" y="461772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Events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12280" y="4251960"/>
            <a:ext cx="1920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812280" y="42885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6812280" y="461772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Tracked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PERFORMANCE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868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 MARGIN BREAKDOWN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34440"/>
          <a:ext cx="3108960" cy="26334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₹3.14M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₹3.52M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₹3.39M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₹3.75M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Beverages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₹3.05M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₹3.04M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₹2.92M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₹2.59M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160520"/>
            <a:ext cx="5303520" cy="749808"/>
          </a:xfrm>
          <a:prstGeom prst="rect">
            <a:avLst/>
          </a:prstGeom>
          <a:solidFill>
            <a:srgbClr val="EBF4F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206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448056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remarkably stable at ~₹4.3M/month in Jan–Jun. The sharp drop post-July indicates a data gap or operational halt — not a business trend. The ₹3.62M discount bucket represents 13.8% of revenue and is the single largest controllable leakage driver.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PROFIT LEAKAGE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20240" cy="1280160"/>
          </a:xfrm>
          <a:prstGeom prst="rect">
            <a:avLst/>
          </a:prstGeom>
          <a:solidFill>
            <a:srgbClr val="27AE60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₹6526K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914400"/>
            <a:ext cx="1920240" cy="1280160"/>
          </a:xfrm>
          <a:prstGeom prst="rect">
            <a:avLst/>
          </a:prstGeom>
          <a:solidFill>
            <a:srgbClr val="D94F3D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₹3622K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14600" y="15727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Discounts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920240" cy="1280160"/>
          </a:xfrm>
          <a:prstGeom prst="rect">
            <a:avLst/>
          </a:prstGeom>
          <a:solidFill>
            <a:srgbClr val="E07B39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₹1625K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15727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Returns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914400"/>
            <a:ext cx="1920240" cy="1280160"/>
          </a:xfrm>
          <a:prstGeom prst="rect">
            <a:avLst/>
          </a:prstGeom>
          <a:solidFill>
            <a:srgbClr val="0E7C86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₹1279K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12280" y="15727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DISCOUNT RATE DISTRIBUTION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274320" y="2697480"/>
          <a:ext cx="41148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4663440" y="2377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 REASONS</a:t>
            </a:r>
            <a:endParaRPr lang="en-US" sz="1200" dirty="0"/>
          </a:p>
        </p:txBody>
      </p:sp>
      <p:graphicFrame>
        <p:nvGraphicFramePr>
          <p:cNvPr id="19" name="Chart 1"/>
          <p:cNvGraphicFramePr/>
          <p:nvPr/>
        </p:nvGraphicFramePr>
        <p:xfrm>
          <a:off x="4480560" y="2697480"/>
          <a:ext cx="438912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Shape 16"/>
          <p:cNvSpPr/>
          <p:nvPr/>
        </p:nvSpPr>
        <p:spPr>
          <a:xfrm>
            <a:off x="274320" y="4800600"/>
            <a:ext cx="8595360" cy="201168"/>
          </a:xfrm>
          <a:prstGeom prst="rect">
            <a:avLst/>
          </a:prstGeom>
          <a:solidFill>
            <a:srgbClr val="D94F3D">
              <a:alpha val="15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457200" y="480974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Quality Issues + Damaged = 44% of all returns  |  6,650 orders carry &gt;50% discount — likely margin-negative transactions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VENDOR &amp; SUPPLY CHAIN PERFORMANCE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1463040"/>
          </a:xfrm>
          <a:prstGeom prst="rect">
            <a:avLst/>
          </a:prstGeom>
          <a:solidFill>
            <a:srgbClr val="D94F3D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30.1%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SLA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868680"/>
            <a:ext cx="2011680" cy="1463040"/>
          </a:xfrm>
          <a:prstGeom prst="rect">
            <a:avLst/>
          </a:prstGeom>
          <a:solidFill>
            <a:srgbClr val="0E7C86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05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 days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1460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Supply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(All)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2011680" cy="1463040"/>
          </a:xfrm>
          <a:prstGeom prst="rect">
            <a:avLst/>
          </a:prstGeom>
          <a:solidFill>
            <a:srgbClr val="E07B39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0058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2.8 days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Vendor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(VEND0100)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5160" y="868680"/>
            <a:ext cx="1920240" cy="1463040"/>
          </a:xfrm>
          <a:prstGeom prst="rect">
            <a:avLst/>
          </a:prstGeom>
          <a:solidFill>
            <a:srgbClr val="F4B942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9516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514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10 VENDORS BY AVERAGE DELAY (DAYS)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182880" y="2834640"/>
          <a:ext cx="51206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539496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SUPPLY CHAIN RISKS &amp; ACTIONS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394960" y="2907792"/>
            <a:ext cx="3520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32120" y="29260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VEND0100, VEND0097 — Flag for SLA penalty review; avg delay &gt;2.5 days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94960" y="3300984"/>
            <a:ext cx="3520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32120" y="33192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30.1% SLA breach across network suggests weak contract enforcement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394960" y="3694176"/>
            <a:ext cx="3520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32120" y="371246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Delayed vendors correlate with stockout spikes in receiving stores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394960" y="4087368"/>
            <a:ext cx="3520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32120" y="410565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Dual-vendor strategy for top 20 SKUs can reduce stockout by ~40%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394960" y="4480560"/>
            <a:ext cx="3520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32120" y="44988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Automated PO alerts when SLA breach probability exceeds 60%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STOCKOUT &amp; DEMAND RISK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965960" cy="1097280"/>
          </a:xfrm>
          <a:prstGeom prst="rect">
            <a:avLst/>
          </a:prstGeom>
          <a:solidFill>
            <a:srgbClr val="D94F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1,532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Stockout Events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50592" y="896112"/>
            <a:ext cx="1965960" cy="1097280"/>
          </a:xfrm>
          <a:prstGeom prst="rect">
            <a:avLst/>
          </a:prstGeom>
          <a:solidFill>
            <a:srgbClr val="E07B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60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₹160.6M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50592" y="148132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Stockout Loss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26864" y="896112"/>
            <a:ext cx="1965960" cy="1097280"/>
          </a:xfrm>
          <a:prstGeom prst="rect">
            <a:avLst/>
          </a:prstGeom>
          <a:solidFill>
            <a:srgbClr val="0E7C8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60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CHE-05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26864" y="148132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Stockout-Prone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03136" y="896112"/>
            <a:ext cx="1965960" cy="10972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60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03136" y="148132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Stockouts (Store)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1488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10 STORES BY STOCKOUT EVENTS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182880" y="2468880"/>
          <a:ext cx="50292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5394960" y="21488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STOCKOUT RISK MATRIX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349240" y="2468880"/>
            <a:ext cx="35661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394960" y="2514600"/>
            <a:ext cx="1691640" cy="1097280"/>
          </a:xfrm>
          <a:prstGeom prst="rect">
            <a:avLst/>
          </a:prstGeom>
          <a:solidFill>
            <a:srgbClr val="FFEBEE"/>
          </a:solidFill>
          <a:ln w="6350">
            <a:solidFill>
              <a:srgbClr val="D94F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13248" y="25603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FREQUENCY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132320" y="2514600"/>
            <a:ext cx="1737360" cy="1097280"/>
          </a:xfrm>
          <a:prstGeom prst="rect">
            <a:avLst/>
          </a:prstGeom>
          <a:solidFill>
            <a:srgbClr val="FFF8E1"/>
          </a:solidFill>
          <a:ln w="6350">
            <a:solidFill>
              <a:srgbClr val="F4B9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50608" y="2560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FREQUENCY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Weekly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394960" y="3657600"/>
            <a:ext cx="1691640" cy="1097280"/>
          </a:xfrm>
          <a:prstGeom prst="rect">
            <a:avLst/>
          </a:prstGeom>
          <a:solidFill>
            <a:srgbClr val="E8F5E9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13248" y="37033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FREQUENCY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Process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132320" y="3657600"/>
            <a:ext cx="1737360" cy="1097280"/>
          </a:xfrm>
          <a:prstGeom prst="rect">
            <a:avLst/>
          </a:prstGeom>
          <a:solidFill>
            <a:srgbClr val="EDE7F6"/>
          </a:solidFill>
          <a:ln w="6350">
            <a:solidFill>
              <a:srgbClr val="7B1FA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50608" y="370332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FREQUENCY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Risk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D6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STORE &amp; CATEGORY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10 STORES BY REVENUE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170432"/>
          <a:ext cx="42976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868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SHARE BY CATEGORY</a:t>
            </a:r>
            <a:endParaRPr lang="en-US" sz="12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572000" y="1115568"/>
          <a:ext cx="4297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3840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CITY-LEVEL OBSERVATIONS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74320" y="4178808"/>
            <a:ext cx="41148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4187952"/>
            <a:ext cx="3931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AHM stores (5) dominate top 10 — strong demand in Ahmedabad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74320" y="4407408"/>
            <a:ext cx="41148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4416552"/>
            <a:ext cx="3931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MUM stores show highest absolute revenue but &gt;37 stockouts each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74320" y="4636008"/>
            <a:ext cx="41148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1480" y="4645152"/>
            <a:ext cx="3931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DEL-03 &amp; MUM-02 have worst net margins despite high revenue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74320" y="4864608"/>
            <a:ext cx="41148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11480" y="4873752"/>
            <a:ext cx="3931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Smaller tier-2 city stores (KOL, PUN) show better margin efficiency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PROMOTIONS &amp; DISCOUNT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65960" cy="1005840"/>
          </a:xfrm>
          <a:prstGeom prst="rect">
            <a:avLst/>
          </a:prstGeom>
          <a:solidFill>
            <a:srgbClr val="D94F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40.7%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4447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&gt;30% Discount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50592" y="868680"/>
            <a:ext cx="1965960" cy="1005840"/>
          </a:xfrm>
          <a:prstGeom prst="rect">
            <a:avLst/>
          </a:prstGeom>
          <a:solidFill>
            <a:srgbClr val="E07B3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14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26.3%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50592" y="14447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Rate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26864" y="868680"/>
            <a:ext cx="1965960" cy="1005840"/>
          </a:xfrm>
          <a:prstGeom prst="rect">
            <a:avLst/>
          </a:prstGeom>
          <a:solidFill>
            <a:srgbClr val="D94F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14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6,650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26864" y="14447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&gt;50% Discount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03136" y="868680"/>
            <a:ext cx="1965960" cy="100584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14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₹3.62M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03136" y="14447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Discount Amount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0299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DISCOUNT IMPACT BY PROMO TYPE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182880" y="2359152"/>
          <a:ext cx="502920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5394960" y="20299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PROMO OPTIMISATION ACTIONS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349240" y="2423160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49240" y="2423160"/>
            <a:ext cx="566928" cy="384048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21" name="Text 18"/>
          <p:cNvSpPr/>
          <p:nvPr/>
        </p:nvSpPr>
        <p:spPr>
          <a:xfrm>
            <a:off x="5349240" y="245059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961888" y="2450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maximum discount at 35% — enforce floor price policy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49240" y="2862072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49240" y="2862072"/>
            <a:ext cx="566928" cy="384048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25" name="Text 22"/>
          <p:cNvSpPr/>
          <p:nvPr/>
        </p:nvSpPr>
        <p:spPr>
          <a:xfrm>
            <a:off x="5349240" y="2889504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961888" y="28895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6,650 orders with &gt;50% discount for margin inversion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349240" y="3300984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349240" y="3300984"/>
            <a:ext cx="566928" cy="38404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9" name="Text 26"/>
          <p:cNvSpPr/>
          <p:nvPr/>
        </p:nvSpPr>
        <p:spPr>
          <a:xfrm>
            <a:off x="5349240" y="3328416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961888" y="33284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budget from Flat% to Bundle deals — better margin retention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349240" y="3739896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349240" y="3739896"/>
            <a:ext cx="566928" cy="38404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3" name="Text 30"/>
          <p:cNvSpPr/>
          <p:nvPr/>
        </p:nvSpPr>
        <p:spPr>
          <a:xfrm>
            <a:off x="5349240" y="376732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961888" y="3767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Loyalty-based discounts show highest ROI per rupee spent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349240" y="4178808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349240" y="4178808"/>
            <a:ext cx="566928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7" name="Text 34"/>
          <p:cNvSpPr/>
          <p:nvPr/>
        </p:nvSpPr>
        <p:spPr>
          <a:xfrm>
            <a:off x="5349240" y="420624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961888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Sales drive volume but erode margins — use sparingly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349240" y="4617720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349240" y="4617720"/>
            <a:ext cx="566928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1" name="Text 38"/>
          <p:cNvSpPr/>
          <p:nvPr/>
        </p:nvSpPr>
        <p:spPr>
          <a:xfrm>
            <a:off x="5349240" y="464515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5961888" y="4645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promo thresholds by category and city tier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251960" cy="1234440"/>
          </a:xfrm>
          <a:prstGeom prst="rect">
            <a:avLst/>
          </a:prstGeom>
          <a:solidFill>
            <a:srgbClr val="152744"/>
          </a:solidFill>
          <a:ln w="635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96112"/>
            <a:ext cx="4251960" cy="329184"/>
          </a:xfrm>
          <a:prstGeom prst="rect">
            <a:avLst/>
          </a:prstGeom>
          <a:solidFill>
            <a:srgbClr val="D94F3D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418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Control   IMPACT: HIGH   EFFORT: LOW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289304"/>
            <a:ext cx="4069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35% discount cap across all categories; conduct audit on &gt;50% discount orders; introduce floor pricing rules in POS system.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73168" y="896112"/>
            <a:ext cx="4251960" cy="1234440"/>
          </a:xfrm>
          <a:prstGeom prst="rect">
            <a:avLst/>
          </a:prstGeom>
          <a:solidFill>
            <a:srgbClr val="152744"/>
          </a:solidFill>
          <a:ln w="635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73168" y="896112"/>
            <a:ext cx="4251960" cy="329184"/>
          </a:xfrm>
          <a:prstGeom prst="rect">
            <a:avLst/>
          </a:prstGeom>
          <a:solidFill>
            <a:srgbClr val="D94F3D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9418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  IMPACT: HIGH   EFFORT: MED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64608" y="1289304"/>
            <a:ext cx="4069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VEND0100, VEND0097 on performance improvement plan. Activate backup vendors for Top 50 SKUs to prevent stockout cascades.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49424"/>
            <a:ext cx="4251960" cy="1234440"/>
          </a:xfrm>
          <a:prstGeom prst="rect">
            <a:avLst/>
          </a:prstGeom>
          <a:solidFill>
            <a:srgbClr val="152744"/>
          </a:solidFill>
          <a:ln w="635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49424"/>
            <a:ext cx="4251960" cy="329184"/>
          </a:xfrm>
          <a:prstGeom prst="rect">
            <a:avLst/>
          </a:prstGeom>
          <a:solidFill>
            <a:srgbClr val="D94F3D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29514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Prevention   IMPACT: HIGH   EFFORT: MED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642616"/>
            <a:ext cx="4069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reorder trigger when inventory &lt; 1.5× reorder level. CHE-05, JAI-05, KOL-01 need immediate safety-stock buffer increase.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73168" y="2249424"/>
            <a:ext cx="4251960" cy="1234440"/>
          </a:xfrm>
          <a:prstGeom prst="rect">
            <a:avLst/>
          </a:prstGeom>
          <a:solidFill>
            <a:srgbClr val="152744"/>
          </a:solidFill>
          <a:ln w="635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73168" y="2249424"/>
            <a:ext cx="4251960" cy="329184"/>
          </a:xfrm>
          <a:prstGeom prst="rect">
            <a:avLst/>
          </a:prstGeom>
          <a:solidFill>
            <a:srgbClr val="F4B942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229514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Reduction   IMPACT: MED   EFFORT: MED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64608" y="2642616"/>
            <a:ext cx="4069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 at sourcing for top return SKUs. Add photo-verification at dispatch for Damaged/Wrong Item returns (44% of all returns).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602736"/>
            <a:ext cx="4251960" cy="1234440"/>
          </a:xfrm>
          <a:prstGeom prst="rect">
            <a:avLst/>
          </a:prstGeom>
          <a:solidFill>
            <a:srgbClr val="152744"/>
          </a:solidFill>
          <a:ln w="635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02736"/>
            <a:ext cx="4251960" cy="329184"/>
          </a:xfrm>
          <a:prstGeom prst="rect">
            <a:avLst/>
          </a:prstGeom>
          <a:solidFill>
            <a:srgbClr val="D94F3D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64845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  IMPACT: HIGH   EFFORT: LOW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995928"/>
            <a:ext cx="4069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fix data drop-off post July 2025. Missing 6 months of data prevents full-year analysis and forecasting.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73168" y="3602736"/>
            <a:ext cx="4251960" cy="1234440"/>
          </a:xfrm>
          <a:prstGeom prst="rect">
            <a:avLst/>
          </a:prstGeom>
          <a:solidFill>
            <a:srgbClr val="152744"/>
          </a:solidFill>
          <a:ln w="635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3602736"/>
            <a:ext cx="4251960" cy="329184"/>
          </a:xfrm>
          <a:prstGeom prst="rect">
            <a:avLst/>
          </a:prstGeom>
          <a:solidFill>
            <a:srgbClr val="F4B942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364845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Optimisation   IMPACT: MED   EFFORT: 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64608" y="3995928"/>
            <a:ext cx="4069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30% of Flat% promo budget to Bundle and Loyalty schemes. Test tiered discounts by city tier (metro vs. tier-2).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96112"/>
            <a:ext cx="2697480" cy="50292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Month 1–2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1887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"Quick Wins"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" y="1536192"/>
            <a:ext cx="2487168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91056"/>
            <a:ext cx="228600" cy="228600"/>
          </a:xfrm>
          <a:prstGeom prst="ellipse">
            <a:avLst/>
          </a:prstGeom>
          <a:solidFill>
            <a:srgbClr val="D94F3D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15727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cap policy enforcement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2139696"/>
            <a:ext cx="2487168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94560"/>
            <a:ext cx="228600" cy="228600"/>
          </a:xfrm>
          <a:prstGeom prst="ellipse">
            <a:avLst/>
          </a:prstGeom>
          <a:solidFill>
            <a:srgbClr val="D94F3D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17627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&gt;50% discount orders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743200"/>
            <a:ext cx="2487168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798064"/>
            <a:ext cx="228600" cy="228600"/>
          </a:xfrm>
          <a:prstGeom prst="ellipse">
            <a:avLst/>
          </a:prstGeom>
          <a:solidFill>
            <a:srgbClr val="D94F3D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277977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pipeline (July+ gap)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346704"/>
            <a:ext cx="2487168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401568"/>
            <a:ext cx="228600" cy="228600"/>
          </a:xfrm>
          <a:prstGeom prst="ellipse">
            <a:avLst/>
          </a:prstGeom>
          <a:solidFill>
            <a:srgbClr val="D94F3D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3832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top 3 vendor SLA offenders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896112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896112"/>
            <a:ext cx="2697480" cy="50292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2" name="Text 20"/>
          <p:cNvSpPr/>
          <p:nvPr/>
        </p:nvSpPr>
        <p:spPr>
          <a:xfrm>
            <a:off x="3364992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Month 3–4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64992" y="11887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"Structural Fixes"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01568" y="1536192"/>
            <a:ext cx="2487168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1591056"/>
            <a:ext cx="228600" cy="2286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26" name="Text 24"/>
          <p:cNvSpPr/>
          <p:nvPr/>
        </p:nvSpPr>
        <p:spPr>
          <a:xfrm>
            <a:off x="3712464" y="15727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Safety-stock buffer for CHE, JAI, KOL stores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01568" y="2139696"/>
            <a:ext cx="2487168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0" y="2194560"/>
            <a:ext cx="228600" cy="2286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29" name="Text 27"/>
          <p:cNvSpPr/>
          <p:nvPr/>
        </p:nvSpPr>
        <p:spPr>
          <a:xfrm>
            <a:off x="3712464" y="217627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Dual-vendor sourcing for top 50 SKUs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01568" y="2743200"/>
            <a:ext cx="2487168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0" y="2798064"/>
            <a:ext cx="228600" cy="2286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32" name="Text 30"/>
          <p:cNvSpPr/>
          <p:nvPr/>
        </p:nvSpPr>
        <p:spPr>
          <a:xfrm>
            <a:off x="3712464" y="277977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quality QC at sourcing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01568" y="3346704"/>
            <a:ext cx="2487168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29000" y="3401568"/>
            <a:ext cx="228600" cy="2286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35" name="Text 33"/>
          <p:cNvSpPr/>
          <p:nvPr/>
        </p:nvSpPr>
        <p:spPr>
          <a:xfrm>
            <a:off x="3712464" y="33832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promo A/B test launch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896112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896112"/>
            <a:ext cx="269748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8" name="Text 36"/>
          <p:cNvSpPr/>
          <p:nvPr/>
        </p:nvSpPr>
        <p:spPr>
          <a:xfrm>
            <a:off x="6291072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3: Month 5–6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91072" y="11887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"Optimisation"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27648" y="1536192"/>
            <a:ext cx="2487168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1591056"/>
            <a:ext cx="228600" cy="2286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2" name="Text 40"/>
          <p:cNvSpPr/>
          <p:nvPr/>
        </p:nvSpPr>
        <p:spPr>
          <a:xfrm>
            <a:off x="6638544" y="15727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model by store-SKU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27648" y="2139696"/>
            <a:ext cx="2487168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2194560"/>
            <a:ext cx="228600" cy="2286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5" name="Text 43"/>
          <p:cNvSpPr/>
          <p:nvPr/>
        </p:nvSpPr>
        <p:spPr>
          <a:xfrm>
            <a:off x="6638544" y="217627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reorder automation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27648" y="2743200"/>
            <a:ext cx="2487168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5080" y="2798064"/>
            <a:ext cx="228600" cy="2286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8" name="Text 46"/>
          <p:cNvSpPr/>
          <p:nvPr/>
        </p:nvSpPr>
        <p:spPr>
          <a:xfrm>
            <a:off x="6638544" y="277977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ROI measurement framework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27648" y="3346704"/>
            <a:ext cx="2487168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55080" y="3401568"/>
            <a:ext cx="228600" cy="2286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1" name="Text 49"/>
          <p:cNvSpPr/>
          <p:nvPr/>
        </p:nvSpPr>
        <p:spPr>
          <a:xfrm>
            <a:off x="6638544" y="33832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scorecard quarterly review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0E7C86">
              <a:alpha val="1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47731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8–12% reduction in discount leakage  |  25–35% fewer stockout events  |  Return rate target &lt; 4%  |  Vendor SLA breach &lt; 15%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200400" y="2395728"/>
            <a:ext cx="274320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A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Chain Profit Leakage &amp; Demand Optimization Project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3063240"/>
            <a:ext cx="5486400" cy="338328"/>
          </a:xfrm>
          <a:prstGeom prst="rect">
            <a:avLst/>
          </a:prstGeom>
          <a:solidFill>
            <a:srgbClr val="152744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309067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₹3.62M recoverable via discount governance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3456432"/>
            <a:ext cx="5486400" cy="338328"/>
          </a:xfrm>
          <a:prstGeom prst="rect">
            <a:avLst/>
          </a:prstGeom>
          <a:solidFill>
            <a:srgbClr val="152744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348386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₹1.62M return loss addressable through quality controls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3849624"/>
            <a:ext cx="5486400" cy="338328"/>
          </a:xfrm>
          <a:prstGeom prst="rect">
            <a:avLst/>
          </a:prstGeom>
          <a:solidFill>
            <a:srgbClr val="152744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387705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1,532 stockout events preventable with smarter inventory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4242816"/>
            <a:ext cx="5486400" cy="338328"/>
          </a:xfrm>
          <a:prstGeom prst="rect">
            <a:avLst/>
          </a:prstGeom>
          <a:solidFill>
            <a:srgbClr val="152744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427024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30.1% vendor SLA breach rate requires immediate action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1119</Words>
  <Application>Microsoft Office PowerPoint</Application>
  <PresentationFormat>On-screen Show (16:9)</PresentationFormat>
  <Paragraphs>247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Chain Profit Leakage &amp; Demand Optimization</dc:title>
  <dc:subject>PptxGenJS Presentation</dc:subject>
  <dc:creator>PptxGenJS</dc:creator>
  <cp:lastModifiedBy>pavan kurri</cp:lastModifiedBy>
  <cp:revision>2</cp:revision>
  <dcterms:created xsi:type="dcterms:W3CDTF">2026-04-06T08:28:25Z</dcterms:created>
  <dcterms:modified xsi:type="dcterms:W3CDTF">2026-04-06T17:28:22Z</dcterms:modified>
</cp:coreProperties>
</file>